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87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[SUBTITLE_DESCRIBING_SOLUTION_FOR_CUSTOMER]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3703320" cy="292608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36576" cy="292608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298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62763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[CHALLENGE_PARAGRAPH_1_DESCRIBING_CUSTOMER_SITUATION_TECHNOLOGY_STACK_AND_TESTING_CONSTRAINTS]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[CHALLENGE_PARAGRAPH_2_DESCRIBING_CURRENT_LIMITATIONS_COVERAGE_GAPS_AND_IMPACT_ON_RELEASES]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03320" cy="292608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6576" cy="292608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[SOLUTION_PARAGRAPH_1_DESCRIBING_TRICENTIS_CAPABILITIES_AND_APPROACH]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[SOLUTION_PARAGRAPH_2_DESCRIBING_BENEFITS_PROOF_POINTS_AND_TRANSFORMATION_OUTCOME]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Capabilities for [CUSTOMER_NAME]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must-haves for [CUSTOMER_GOAL]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7717536" cy="457200"/>
          </a:xfrm>
          <a:prstGeom prst="rect">
            <a:avLst/>
          </a:prstGeom>
          <a:solidFill>
            <a:srgbClr val="0D15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143000"/>
            <a:ext cx="36576" cy="45720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1225296"/>
            <a:ext cx="292608" cy="292608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07592" y="1143000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[CAPABILITY_1]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1664208"/>
            <a:ext cx="7717536" cy="457200"/>
          </a:xfrm>
          <a:prstGeom prst="rect">
            <a:avLst/>
          </a:prstGeom>
          <a:solidFill>
            <a:srgbClr val="0D15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1664208"/>
            <a:ext cx="36576" cy="45720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1746504"/>
            <a:ext cx="292608" cy="292608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07592" y="1664208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[CAPABILITY_2]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2185416"/>
            <a:ext cx="7717536" cy="457200"/>
          </a:xfrm>
          <a:prstGeom prst="rect">
            <a:avLst/>
          </a:prstGeom>
          <a:solidFill>
            <a:srgbClr val="0D15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185416"/>
            <a:ext cx="36576" cy="45720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7824" y="2267712"/>
            <a:ext cx="292608" cy="292608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7824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07592" y="2185416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[CAPABILITY_3]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" y="2706624"/>
            <a:ext cx="7717536" cy="457200"/>
          </a:xfrm>
          <a:prstGeom prst="rect">
            <a:avLst/>
          </a:prstGeom>
          <a:solidFill>
            <a:srgbClr val="0D15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2706624"/>
            <a:ext cx="36576" cy="45720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7824" y="2788920"/>
            <a:ext cx="292608" cy="292608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782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07592" y="2706624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[CAPABILITY_4]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3227832"/>
            <a:ext cx="7717536" cy="457200"/>
          </a:xfrm>
          <a:prstGeom prst="rect">
            <a:avLst/>
          </a:prstGeom>
          <a:solidFill>
            <a:srgbClr val="0D15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232" y="3227832"/>
            <a:ext cx="36576" cy="45720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7824" y="3310128"/>
            <a:ext cx="292608" cy="292608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782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07592" y="3227832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[CAPABILITY_5]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" y="3749040"/>
            <a:ext cx="7717536" cy="457200"/>
          </a:xfrm>
          <a:prstGeom prst="rect">
            <a:avLst/>
          </a:prstGeom>
          <a:solidFill>
            <a:srgbClr val="0D15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232" y="3749040"/>
            <a:ext cx="36576" cy="45720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7824" y="3831336"/>
            <a:ext cx="292608" cy="292608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77824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07592" y="3749040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[CAPABILITY_6]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3232" y="4270248"/>
            <a:ext cx="7717536" cy="457200"/>
          </a:xfrm>
          <a:prstGeom prst="rect">
            <a:avLst/>
          </a:prstGeom>
          <a:solidFill>
            <a:srgbClr val="0D152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" y="4270248"/>
            <a:ext cx="36576" cy="45720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77824" y="4352544"/>
            <a:ext cx="292608" cy="292608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77824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07592" y="4270248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[CAPABILITY_7]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Challenges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[TRANSFORMATION_THEME]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097280"/>
            <a:ext cx="3767328" cy="126187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36576" cy="1261872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15214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1389888"/>
            <a:ext cx="3493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[CURRENT_STATE_ITEM_1]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[CURRENT_STATE_ITEM_2]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[CURRENT_STATE_ITEM_3]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[CURRENT_STATE_ITEM_4]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[CURRENT_STATE_ITEM_5]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767328" cy="126187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6576" cy="1261872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9744" y="115214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Desired Future State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9744" y="1389888"/>
            <a:ext cx="3493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[FUTURE_STATE_ITEM_1]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[FUTURE_STATE_ITEM_2]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[FUTURE_STATE_ITEM_3]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[FUTURE_STATE_ITEM_4]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[FUTURE_STATE_ITEM_5]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3232" y="2450592"/>
            <a:ext cx="3767328" cy="1261872"/>
          </a:xfrm>
          <a:prstGeom prst="rect">
            <a:avLst/>
          </a:prstGeom>
          <a:solidFill>
            <a:srgbClr val="FFF5F5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450592"/>
            <a:ext cx="36576" cy="12618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" y="250545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Consequences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" y="2743200"/>
            <a:ext cx="3493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[NEGATIVE_CONSEQUENCE_1]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[NEGATIVE_CONSEQUENCE_2]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[NEGATIVE_CONSEQUENCE_3]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[NEGATIVE_CONSEQUENCE_4]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[NEGATIVE_CONSEQUENCE_5]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2450592"/>
            <a:ext cx="3767328" cy="1261872"/>
          </a:xfrm>
          <a:prstGeom prst="rect">
            <a:avLst/>
          </a:prstGeom>
          <a:solidFill>
            <a:srgbClr val="F0FDF4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450592"/>
            <a:ext cx="36576" cy="126187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9744" y="250545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Business Outcomes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9744" y="2743200"/>
            <a:ext cx="3493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[POSITIVE_OUTCOME_1]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[POSITIVE_OUTCOME_2]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[POSITIVE_OUTCOME_3]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[POSITIVE_OUTCOME_4]</a:t>
            </a:r>
            <a:endParaRPr lang="en-US" sz="800" dirty="0"/>
          </a:p>
          <a:p>
            <a:pPr marL="342900" indent="-342900">
              <a:lnSpc>
                <a:spcPct val="12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[POSITIVE_OUTCOME_5]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3232" y="3785616"/>
            <a:ext cx="7717536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" y="3785616"/>
            <a:ext cx="7443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[IF_COMPELLING_EVENT_EXISTS_DESCRIBE_URGENCY_DEADLINE_OR_BUSINESS_DRIVER]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918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 Mapped to [CUSTOMER_NAME]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Tricentis addresses specific challenges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097280"/>
            <a:ext cx="771753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133856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786384" y="1261872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[CHALLENGE_1_SHORT]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56810" y="1097280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21986" y="1133856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 CAPABILITY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721986" y="1261872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[TRICENTIS_CAPABILITY_1]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65564" y="1133856"/>
            <a:ext cx="2315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465564" y="1261872"/>
            <a:ext cx="23152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[CAPABILITY_DESCRIPTION_1]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26545" y="1133856"/>
            <a:ext cx="1543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826545" y="1261872"/>
            <a:ext cx="15435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[IMPACT_1]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3232" y="1673352"/>
            <a:ext cx="771753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1709928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86384" y="1837944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[CHALLENGE_2_SHORT]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56810" y="1673352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21986" y="1709928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 CAPABILITY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721986" y="1837944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[TRICENTIS_CAPABILITY_2]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65564" y="1709928"/>
            <a:ext cx="2315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465564" y="1837944"/>
            <a:ext cx="23152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[CAPABILITY_DESCRIPTION_2]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26545" y="1709928"/>
            <a:ext cx="1543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826545" y="1837944"/>
            <a:ext cx="15435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[IMPACT_2]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3232" y="2249424"/>
            <a:ext cx="771753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2286000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86384" y="2414016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[CHALLENGE_3_SHORT]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56810" y="2249424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21986" y="2286000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 CAPABILITY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21986" y="2414016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[TRICENTIS_CAPABILITY_3]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65564" y="2286000"/>
            <a:ext cx="2315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465564" y="2414016"/>
            <a:ext cx="23152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[CAPABILITY_DESCRIPTION_3]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26545" y="2286000"/>
            <a:ext cx="1543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826545" y="2414016"/>
            <a:ext cx="15435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[IMPACT_3]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3232" y="2825496"/>
            <a:ext cx="771753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" y="2862072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86384" y="2990088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[CHALLENGE_4_SHORT]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56810" y="2825496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21986" y="2862072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 CAPABILITY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721986" y="2990088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[TRICENTIS_CAPABILITY_4]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65564" y="2862072"/>
            <a:ext cx="2315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465564" y="2990088"/>
            <a:ext cx="23152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[CAPABILITY_DESCRIPTION_4]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26545" y="2862072"/>
            <a:ext cx="1543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826545" y="2990088"/>
            <a:ext cx="15435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[IMPACT_4]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3232" y="3401568"/>
            <a:ext cx="771753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6384" y="3438144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86384" y="3566160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[CHALLENGE_5_SHORT]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456810" y="3401568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721986" y="3438144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 CAPABILITY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721986" y="3566160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[TRICENTIS_CAPABILITY_5]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65564" y="3438144"/>
            <a:ext cx="2315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465564" y="3566160"/>
            <a:ext cx="23152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[CAPABILITY_DESCRIPTION_5]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26545" y="3438144"/>
            <a:ext cx="1543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826545" y="3566160"/>
            <a:ext cx="15435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[IMPACT_5]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13232" y="3977640"/>
            <a:ext cx="7717536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6384" y="4014216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86384" y="4142232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[CHALLENGE_6_SHORT]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456810" y="3977640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2721986" y="4014216"/>
            <a:ext cx="16978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 CAPABILITY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721986" y="4142232"/>
            <a:ext cx="169785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[TRICENTIS_CAPABILITY_6]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465564" y="4014216"/>
            <a:ext cx="2315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465564" y="4142232"/>
            <a:ext cx="23152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[CAPABILITY_DESCRIPTION_6]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26545" y="4014216"/>
            <a:ext cx="1543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826545" y="4142232"/>
            <a:ext cx="154350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[IMPACT_6]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Points: [PROOF_POINT_TITLE]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[PROOF_POINT_SUBTITLE]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097280"/>
            <a:ext cx="3749040" cy="14630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36576" cy="146304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1704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[PROOF_BOX_1_TITLE]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1408176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[PROOF_POINT_1_ITEM_1]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[PROOF_POINT_1_ITEM_2]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[PROOF_POINT_1_ITEM_3]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[PROOF_POINT_1_ITEM_4]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[PROOF_POINT_1_ITEM_5]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81728" y="1097280"/>
            <a:ext cx="3749040" cy="14630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81728" y="1097280"/>
            <a:ext cx="36576" cy="146304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704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[PROOF_BOX_2_TITLE]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408176"/>
            <a:ext cx="3429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[PROOF_POINT_2_ITEM_1]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[PROOF_POINT_2_ITEM_2]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[PROOF_POINT_2_ITEM_3]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[PROOF_POINT_2_ITEM_4]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[PROOF_POINT_2_ITEM_5]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2670048"/>
            <a:ext cx="7717536" cy="10058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670048"/>
            <a:ext cx="36576" cy="100584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7824" y="2743200"/>
            <a:ext cx="7397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[PROOF_BOX_3_TITLE]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2980944"/>
            <a:ext cx="7397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[PROOF_POINT_3_ITEM_1]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[PROOF_POINT_3_ITEM_2]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[PROOF_POINT_3_ITEM_3]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[PROOF_POINT_3_ITEM_4]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Areas to demo based on discovery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" y="1005840"/>
            <a:ext cx="3767328" cy="111556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005840"/>
            <a:ext cx="36576" cy="1115568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06070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[DEMO_AREA_1_TITLE]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[DEMO_1_WHAT_TO_SHOW]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" y="15361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[DEMO_1_WHY_IT_MATTERS]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59536" y="1828800"/>
            <a:ext cx="3493008" cy="22860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[DEMO_1_SPECIFIC_EXAMPLE]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3767328" cy="111556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6576" cy="1115568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9744" y="106070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[DEMO_AREA_2_TITLE]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[DEMO_2_WHAT_TO_SHOW]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9744" y="15361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[DEMO_2_WHY_IT_MATTERS]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9744" y="1828800"/>
            <a:ext cx="3493008" cy="22860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[DEMO_2_SPECIFIC_EXAMPLE]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3232" y="2194560"/>
            <a:ext cx="3767328" cy="111556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2194560"/>
            <a:ext cx="36576" cy="1115568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9536" y="224942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[DEMO_AREA_3_TITLE]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24505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[DEMO_3_WHAT_TO_SHOW]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9536" y="27249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[DEMO_3_WHY_IT_MATTERS]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59536" y="3017520"/>
            <a:ext cx="3493008" cy="22860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017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[DEMO_3_SPECIFIC_EXAMPLE]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194560"/>
            <a:ext cx="3767328" cy="111556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194560"/>
            <a:ext cx="36576" cy="1115568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9744" y="224942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[DEMO_AREA_4_TITLE]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24505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[DEMO_4_WHAT_TO_SHOW]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9744" y="27249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[DEMO_4_WHY_IT_MATTERS]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9744" y="3017520"/>
            <a:ext cx="3493008" cy="22860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3017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[DEMO_4_SPECIFIC_EXAMPLE]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3232" y="3383280"/>
            <a:ext cx="3767328" cy="111556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3232" y="3383280"/>
            <a:ext cx="36576" cy="1115568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9536" y="34381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[DEMO_AREA_5_TITLE]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9536" y="36393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[DEMO_5_WHAT_TO_SHOW]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9536" y="391363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[DEMO_5_WHY_IT_MATTERS]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59536" y="4206240"/>
            <a:ext cx="3493008" cy="22860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4206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[DEMO_5_SPECIFIC_EXAMPLE]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383280"/>
            <a:ext cx="3767328" cy="111556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3383280"/>
            <a:ext cx="36576" cy="1115568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9744" y="34381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[DEMO_AREA_6_TITLE]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9744" y="36393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[DEMO_6_WHAT_TO_SHOW]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9744" y="391363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</a:t>
            </a: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[DEMO_6_WHY_IT_MATTERS]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09744" y="4206240"/>
            <a:ext cx="3493008" cy="22860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64608" y="4206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[DEMO_6_SPECIFIC_EXAMPLE]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Quantification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to prepare for ROI discussion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2450592" cy="28346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143000"/>
            <a:ext cx="36576" cy="283464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23444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 Costs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1554480"/>
            <a:ext cx="2176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[CURRENT_COST_QUESTION_1]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[CURRENT_COST_QUESTION_2]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[CURRENT_COST_QUESTION_3]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[CURRENT_COST_QUESTION_4]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6704" y="1143000"/>
            <a:ext cx="2450592" cy="28346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46704" y="1143000"/>
            <a:ext cx="36576" cy="283464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93008" y="123444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Metrics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1554480"/>
            <a:ext cx="2176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[IMPACT_QUESTION_1]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[IMPACT_QUESTION_2]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[IMPACT_QUESTION_3]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[IMPACT_QUESTION_4]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0176" y="1143000"/>
            <a:ext cx="2450592" cy="28346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80176" y="1143000"/>
            <a:ext cx="36576" cy="2834640"/>
          </a:xfrm>
          <a:prstGeom prst="rect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23444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State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176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[FUTURE_VALUE_QUESTION_1]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[FUTURE_VALUE_QUESTION_2]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[FUTURE_VALUE_QUESTION_3]</a:t>
            </a:r>
            <a:endParaRPr lang="en-US" sz="9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[FUTURE_VALUE_QUESTION_4]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Positioning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Tricentis vs. [COMPETITOR_OR_ALTERNATIVE]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051560"/>
            <a:ext cx="7717536" cy="32826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097280"/>
            <a:ext cx="1389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39548" y="1097280"/>
            <a:ext cx="24696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[COMPETITOR_NAME]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097280"/>
            <a:ext cx="24696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78772" y="1097280"/>
            <a:ext cx="926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417320"/>
            <a:ext cx="7534656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1828800"/>
            <a:ext cx="7534656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481328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[DIMENSION_1]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39548" y="1481328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[COMPETITOR_1_INFO]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481328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[TRICENTIS_1_INFO]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58944" y="1545336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58944" y="15453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" y="2176272"/>
            <a:ext cx="7534656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" y="1828800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[DIMENSION_2]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39548" y="1828800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[COMPETITOR_2_INFO]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[TRICENTIS_2_INFO]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58944" y="1892808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8944" y="18928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" y="2523744"/>
            <a:ext cx="7534656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" y="2176272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[DIMENSION_3]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39548" y="2176272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[COMPETITOR_3_INFO]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176272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[TRICENTIS_3_INFO]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58944" y="2240280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8944" y="22402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4672" y="2871216"/>
            <a:ext cx="7534656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0392" y="2523744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[DIMENSION_4]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39548" y="2523744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[COMPETITOR_4_INFO]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2523744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[TRICENTIS_4_INFO]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58944" y="2587752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58944" y="25877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4672" y="3218688"/>
            <a:ext cx="7534656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0392" y="2871216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[DIMENSION_5]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39548" y="2871216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[COMPETITOR_5_INFO]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2871216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[TRICENTIS_5_INFO]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458944" y="293522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58944" y="2935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" y="3566160"/>
            <a:ext cx="7534656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0392" y="3218688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[DIMENSION_6]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239548" y="3218688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[COMPETITOR_6_INFO]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9160" y="3218688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[TRICENTIS_6_INFO]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58944" y="3282696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58944" y="32826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4672" y="3913632"/>
            <a:ext cx="7534656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0392" y="3566160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[DIMENSION_7]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39548" y="3566160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[COMPETITOR_7_INFO]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09160" y="3566160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[TRICENTIS_7_INFO]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458944" y="3630168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58944" y="36301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50392" y="3913632"/>
            <a:ext cx="1389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[DIMENSION_8]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239548" y="3913632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[COMPETITOR_8_INFO]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09160" y="3913632"/>
            <a:ext cx="24696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[TRICENTIS_8_INFO]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458944" y="3977640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458944" y="39776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&amp; Success Criteria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[NEXT_STEPS_SUBTITLE_1]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005840"/>
            <a:ext cx="771753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1170432"/>
            <a:ext cx="347472" cy="347472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11430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[STEP_1_TITLE]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57877" y="1143000"/>
            <a:ext cx="30870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[STEP_1_OWNER_OR_TIMELINE]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53312" y="15544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[STEP_1_ACTION_1]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18105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810512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[STEP_1_ACTION_2]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53312" y="20665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066544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[STEP_1_ACTION_3]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53312" y="232257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322576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[STEP_1_ACTION_4]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2816352"/>
            <a:ext cx="771753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" y="2980944"/>
            <a:ext cx="347472" cy="347472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53312" y="295351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[STEP_2_TITLE]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57877" y="2953512"/>
            <a:ext cx="30870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[STEP_2_OWNER_OR_TIMELINE]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53312" y="336499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3364992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[STEP_2_ACTION_1]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53312" y="362102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3621024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[STEP_2_ACTION_2]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53312" y="387705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3877056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[STEP_2_ACTION_3]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53312" y="41330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13308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[STEP_2_ACTION_4]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12064"/>
            <a:ext cx="7717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&amp; Success Criteria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89611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[NEXT_STEPS_SUBTITLE_2]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005840"/>
            <a:ext cx="771753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1170432"/>
            <a:ext cx="347472" cy="347472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114300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[STEP_3_TITLE]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57877" y="1143000"/>
            <a:ext cx="30870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[STEP_3_OWNER_OR_TIMELINE]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53312" y="15544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[STEP_3_ACTION_1]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18105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810512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[STEP_3_ACTION_2]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53312" y="20665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066544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[STEP_3_ACTION_3]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53312" y="232257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322576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[STEP_3_ACTION_4]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2816352"/>
            <a:ext cx="771753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" y="2980944"/>
            <a:ext cx="347472" cy="347472"/>
          </a:xfrm>
          <a:prstGeom prst="ellipse">
            <a:avLst/>
          </a:prstGeom>
          <a:solidFill>
            <a:srgbClr val="00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53312" y="295351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A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[STEP_4_TITLE]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57877" y="2953512"/>
            <a:ext cx="30870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[STEP_4_OWNER_OR_TIMELINE]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53312" y="336499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3364992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[STEP_4_ACTION_1]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53312" y="362102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3621024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[STEP_4_ACTION_2]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53312" y="387705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3877056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[STEP_4_ACTION_3]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53312" y="413308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413308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[STEP_4_ACTION_4]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1426464" cy="320040"/>
          </a:xfrm>
          <a:prstGeom prst="rect">
            <a:avLst/>
          </a:prstGeom>
          <a:solidFill>
            <a:srgbClr val="003E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0312" y="48234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Tricentis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26464" y="4823460"/>
            <a:ext cx="1097280" cy="320040"/>
          </a:xfrm>
          <a:prstGeom prst="rect">
            <a:avLst/>
          </a:prstGeom>
          <a:solidFill>
            <a:srgbClr val="0077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23744" y="4823460"/>
            <a:ext cx="1097280" cy="320040"/>
          </a:xfrm>
          <a:prstGeom prst="rect">
            <a:avLst/>
          </a:prstGeom>
          <a:solidFill>
            <a:srgbClr val="00A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21024" y="4823460"/>
            <a:ext cx="1097280" cy="320040"/>
          </a:xfrm>
          <a:prstGeom prst="rect">
            <a:avLst/>
          </a:prstGeom>
          <a:solidFill>
            <a:srgbClr val="3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18304" y="4823460"/>
            <a:ext cx="4425696" cy="3200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12480" y="48234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1686</Words>
  <Application>Microsoft Macintosh PowerPoint</Application>
  <PresentationFormat>On-screen Show (16:9)</PresentationFormat>
  <Paragraphs>284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Tricentis Tosca for [CUSTOMER_NAME]</dc:title>
  <dc:subject>PptxGenJS Presentation</dc:subject>
  <dc:creator>Tricentis</dc:creator>
  <cp:lastModifiedBy>Jeffrey Kingston</cp:lastModifiedBy>
  <cp:revision>3</cp:revision>
  <dcterms:created xsi:type="dcterms:W3CDTF">2026-02-18T21:40:00Z</dcterms:created>
  <dcterms:modified xsi:type="dcterms:W3CDTF">2026-02-18T22:48:57Z</dcterms:modified>
</cp:coreProperties>
</file>